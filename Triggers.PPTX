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2" r:id="rId5"/>
    <p:sldId id="273" r:id="rId6"/>
    <p:sldId id="275" r:id="rId7"/>
    <p:sldId id="274" r:id="rId8"/>
    <p:sldId id="277" r:id="rId9"/>
    <p:sldId id="297" r:id="rId10"/>
    <p:sldId id="298" r:id="rId11"/>
    <p:sldId id="299" r:id="rId12"/>
    <p:sldId id="300" r:id="rId13"/>
    <p:sldId id="301" r:id="rId14"/>
    <p:sldId id="306" r:id="rId15"/>
    <p:sldId id="307" r:id="rId16"/>
    <p:sldId id="308" r:id="rId17"/>
    <p:sldId id="302" r:id="rId18"/>
    <p:sldId id="303" r:id="rId19"/>
    <p:sldId id="304" r:id="rId20"/>
    <p:sldId id="305" r:id="rId21"/>
    <p:sldId id="30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38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4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3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5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9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0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3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65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7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FD4D5-0B1C-488C-8659-264B2C31412E}" type="datetimeFigureOut">
              <a:rPr lang="en-US" smtClean="0"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6A6C9-B956-4DFD-8BAE-08395E78B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41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Triggers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7DA28B3-1175-4AD1-AA7C-38E647115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 to Triggers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 can write triggers that fire whenever one of the following operations occurs:</a:t>
            </a:r>
          </a:p>
          <a:p>
            <a:pPr lvl="1"/>
            <a:r>
              <a:rPr lang="en-US" dirty="0"/>
              <a:t>DML statements (INSERT, UPDATE, DELETE) on a particular table or view, issued by any user</a:t>
            </a:r>
          </a:p>
          <a:p>
            <a:pPr lvl="1"/>
            <a:r>
              <a:rPr lang="en-US" dirty="0"/>
              <a:t>DDL statements (CREATE or ALTER primarily) issued either by a particular schema/user or by any schema/user in the database</a:t>
            </a:r>
          </a:p>
          <a:p>
            <a:pPr lvl="1"/>
            <a:r>
              <a:rPr lang="en-US" dirty="0"/>
              <a:t>Database events, such as logon/logoff, errors, or startup/shutdown, also issued either by a particular schema/user or by any schema/user in the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4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vs.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600" dirty="0"/>
              <a:t>Triggers are similar to stored procedures. </a:t>
            </a:r>
          </a:p>
          <a:p>
            <a:pPr algn="just"/>
            <a:r>
              <a:rPr lang="en-US" sz="2600" dirty="0"/>
              <a:t>A trigger stored in the database can include SQL and PL/SQL or Java statements to run as a unit and can invoke stored procedures. </a:t>
            </a:r>
          </a:p>
          <a:p>
            <a:pPr algn="just"/>
            <a:r>
              <a:rPr lang="en-US" sz="2600" dirty="0"/>
              <a:t>However, procedures and triggers differ in the way that they are invoked. </a:t>
            </a:r>
          </a:p>
          <a:p>
            <a:pPr algn="just"/>
            <a:r>
              <a:rPr lang="en-US" sz="2600" dirty="0"/>
              <a:t>A procedure is </a:t>
            </a:r>
            <a:r>
              <a:rPr lang="en-US" sz="2600" b="1" dirty="0"/>
              <a:t>explicitly</a:t>
            </a:r>
            <a:r>
              <a:rPr lang="en-US" sz="2600" dirty="0"/>
              <a:t> run by a user, application, or trigger. </a:t>
            </a:r>
          </a:p>
          <a:p>
            <a:pPr algn="just"/>
            <a:r>
              <a:rPr lang="en-US" sz="2600" dirty="0"/>
              <a:t>Triggers are </a:t>
            </a:r>
            <a:r>
              <a:rPr lang="en-US" sz="2600" b="1" dirty="0"/>
              <a:t>implicitly</a:t>
            </a:r>
            <a:r>
              <a:rPr lang="en-US" sz="2600" dirty="0"/>
              <a:t> fired by Oracle when a triggering event occurs, no matter which user is connected or which application is being used.</a:t>
            </a:r>
          </a:p>
        </p:txBody>
      </p:sp>
    </p:spTree>
    <p:extLst>
      <p:ext uri="{BB962C8B-B14F-4D97-AF65-F5344CB8AC3E}">
        <p14:creationId xmlns:p14="http://schemas.microsoft.com/office/powerpoint/2010/main" val="2551952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How Triggers Are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can also use triggers to:</a:t>
            </a:r>
          </a:p>
          <a:p>
            <a:pPr lvl="1"/>
            <a:r>
              <a:rPr lang="en-US" dirty="0"/>
              <a:t>Automatically generate derived column values</a:t>
            </a:r>
          </a:p>
          <a:p>
            <a:pPr lvl="1"/>
            <a:r>
              <a:rPr lang="en-US" dirty="0"/>
              <a:t>Prevent invalid transactions</a:t>
            </a:r>
          </a:p>
          <a:p>
            <a:pPr lvl="1"/>
            <a:r>
              <a:rPr lang="en-US" dirty="0"/>
              <a:t>Enforce complex security authorizations</a:t>
            </a:r>
          </a:p>
          <a:p>
            <a:pPr lvl="1"/>
            <a:r>
              <a:rPr lang="en-US" dirty="0"/>
              <a:t>Enforce referential integrity across nodes in a distributed database</a:t>
            </a:r>
          </a:p>
          <a:p>
            <a:pPr lvl="1"/>
            <a:r>
              <a:rPr lang="en-US" dirty="0"/>
              <a:t>Enforce complex business rules</a:t>
            </a:r>
          </a:p>
          <a:p>
            <a:pPr lvl="1"/>
            <a:r>
              <a:rPr lang="en-US" dirty="0"/>
              <a:t>Provide transparent event logging</a:t>
            </a:r>
          </a:p>
          <a:p>
            <a:pPr lvl="1"/>
            <a:r>
              <a:rPr lang="en-US" dirty="0"/>
              <a:t>Provide auditing</a:t>
            </a:r>
          </a:p>
          <a:p>
            <a:pPr lvl="1"/>
            <a:r>
              <a:rPr lang="en-US" dirty="0"/>
              <a:t>Maintain synchronous table replicates</a:t>
            </a:r>
          </a:p>
          <a:p>
            <a:pPr lvl="1"/>
            <a:r>
              <a:rPr lang="en-US" dirty="0"/>
              <a:t>Gather statistics on table access</a:t>
            </a:r>
          </a:p>
          <a:p>
            <a:pPr lvl="1"/>
            <a:r>
              <a:rPr lang="en-US" dirty="0"/>
              <a:t>Modify table data when DML statements are issued against views</a:t>
            </a:r>
          </a:p>
          <a:p>
            <a:pPr lvl="1"/>
            <a:r>
              <a:rPr lang="en-US" dirty="0"/>
              <a:t>Publish information about database events, user events, and SQL statements to subscribing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6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Some Cautionary Notes about Triggers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Although triggers are useful for customizing a database, use them only when necessary.</a:t>
            </a:r>
          </a:p>
          <a:p>
            <a:r>
              <a:rPr lang="en-US" sz="2600" b="1" dirty="0"/>
              <a:t>Excessive use of triggers can result in complex interdependencies</a:t>
            </a:r>
            <a:r>
              <a:rPr lang="en-US" sz="2600" dirty="0"/>
              <a:t>, which can be difficult to maintain in a large application. </a:t>
            </a:r>
          </a:p>
          <a:p>
            <a:r>
              <a:rPr lang="en-US" sz="2600" dirty="0"/>
              <a:t>For example, when a trigger fires, a SQL statement within its trigger action potentially can fire other triggers, resulting in cascading triggers. This can produce unintended effects</a:t>
            </a:r>
          </a:p>
        </p:txBody>
      </p:sp>
    </p:spTree>
    <p:extLst>
      <p:ext uri="{BB962C8B-B14F-4D97-AF65-F5344CB8AC3E}">
        <p14:creationId xmlns:p14="http://schemas.microsoft.com/office/powerpoint/2010/main" val="229686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214313"/>
            <a:ext cx="9001125" cy="642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061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Parts of a Trigger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trigger has three basic parts:</a:t>
            </a:r>
          </a:p>
          <a:p>
            <a:pPr lvl="1"/>
            <a:r>
              <a:rPr lang="en-US" dirty="0">
                <a:effectLst/>
              </a:rPr>
              <a:t>A triggering event or statement</a:t>
            </a:r>
          </a:p>
          <a:p>
            <a:pPr lvl="1"/>
            <a:r>
              <a:rPr lang="en-US" dirty="0">
                <a:effectLst/>
              </a:rPr>
              <a:t>A trigger restriction</a:t>
            </a:r>
          </a:p>
          <a:p>
            <a:pPr lvl="1"/>
            <a:r>
              <a:rPr lang="en-US" dirty="0">
                <a:effectLst/>
              </a:rPr>
              <a:t>A trigger 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2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685800"/>
            <a:ext cx="8086725" cy="579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0237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Triggers on DML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BEFORE INSERT and AFTER INSERT triggers fire for each row inserted into the table.</a:t>
            </a:r>
          </a:p>
          <a:p>
            <a:r>
              <a:rPr lang="en-US" dirty="0"/>
              <a:t>BEFORE UPDATE and AFTER UPDATE triggers fire for each row updated in the table.</a:t>
            </a:r>
          </a:p>
          <a:p>
            <a:r>
              <a:rPr lang="en-US" dirty="0"/>
              <a:t>BEFORE DELETE and AFTER DELETE triggers fire for each row deleted from the 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529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Trigger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dirty="0"/>
              <a:t>Enabled</a:t>
            </a:r>
          </a:p>
          <a:p>
            <a:pPr lvl="1" fontAlgn="ctr"/>
            <a:r>
              <a:rPr lang="en-US" dirty="0"/>
              <a:t>An enabled trigger runs its trigger action if a triggering statement is issued and the trigger restriction (if any) evaluates to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  <a:p>
            <a:pPr fontAlgn="ctr"/>
            <a:r>
              <a:rPr lang="en-US" dirty="0"/>
              <a:t>Disabled</a:t>
            </a:r>
          </a:p>
          <a:p>
            <a:pPr lvl="1" fontAlgn="ctr"/>
            <a:r>
              <a:rPr lang="en-US" dirty="0"/>
              <a:t>A disabled trigger does not run its trigger action, even if a triggering statement is issued and the trigger restriction (if any) would evaluate to true.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576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355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CREATE [OR REPLACE ] TRIGGER </a:t>
            </a:r>
            <a:r>
              <a:rPr lang="en-US" dirty="0" err="1"/>
              <a:t>trigger_name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{BEFORE | AFTER | INSTEAD OF }</a:t>
            </a:r>
          </a:p>
          <a:p>
            <a:pPr marL="0" indent="0">
              <a:buNone/>
            </a:pPr>
            <a:r>
              <a:rPr lang="en-US" dirty="0"/>
              <a:t>{INSERT [OR] | UPDATE [OR] | DELETE} [OF </a:t>
            </a:r>
            <a:r>
              <a:rPr lang="en-US" dirty="0" err="1"/>
              <a:t>col_name</a:t>
            </a:r>
            <a:r>
              <a:rPr lang="en-US" dirty="0"/>
              <a:t>] ON </a:t>
            </a:r>
            <a:r>
              <a:rPr lang="en-US" dirty="0" err="1"/>
              <a:t>table_name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[REFERENCING OLD AS o NEW AS n] </a:t>
            </a:r>
          </a:p>
          <a:p>
            <a:pPr marL="0" indent="0">
              <a:buNone/>
            </a:pPr>
            <a:r>
              <a:rPr lang="en-US" dirty="0"/>
              <a:t>[FOR EACH ROW] WHEN (condition) </a:t>
            </a:r>
          </a:p>
          <a:p>
            <a:pPr marL="0" indent="0">
              <a:buNone/>
            </a:pPr>
            <a:r>
              <a:rPr lang="en-US" dirty="0"/>
              <a:t>DECLARE </a:t>
            </a:r>
          </a:p>
          <a:p>
            <a:pPr marL="0" indent="0">
              <a:buNone/>
            </a:pPr>
            <a:r>
              <a:rPr lang="en-US" dirty="0"/>
              <a:t>	Declaration-statements </a:t>
            </a:r>
          </a:p>
          <a:p>
            <a:pPr marL="0" indent="0">
              <a:buNone/>
            </a:pPr>
            <a:r>
              <a:rPr lang="en-US" dirty="0"/>
              <a:t>BEGIN </a:t>
            </a:r>
          </a:p>
          <a:p>
            <a:pPr marL="0" indent="0">
              <a:buNone/>
            </a:pPr>
            <a:r>
              <a:rPr lang="en-US" dirty="0"/>
              <a:t>	Executable-statements </a:t>
            </a:r>
          </a:p>
          <a:p>
            <a:pPr marL="0" indent="0">
              <a:buNone/>
            </a:pPr>
            <a:r>
              <a:rPr lang="en-US" dirty="0"/>
              <a:t>EXCEPTION </a:t>
            </a:r>
          </a:p>
          <a:p>
            <a:pPr marL="0" indent="0">
              <a:buNone/>
            </a:pPr>
            <a:r>
              <a:rPr lang="en-US" dirty="0"/>
              <a:t>	Exception-handling-statements </a:t>
            </a:r>
          </a:p>
          <a:p>
            <a:pPr marL="0" indent="0">
              <a:buNone/>
            </a:pPr>
            <a:r>
              <a:rPr lang="en-US" dirty="0"/>
              <a:t>END; </a:t>
            </a:r>
          </a:p>
        </p:txBody>
      </p:sp>
    </p:spTree>
    <p:extLst>
      <p:ext uri="{BB962C8B-B14F-4D97-AF65-F5344CB8AC3E}">
        <p14:creationId xmlns:p14="http://schemas.microsoft.com/office/powerpoint/2010/main" val="410633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534400" cy="6248400"/>
          </a:xfrm>
        </p:spPr>
        <p:txBody>
          <a:bodyPr>
            <a:normAutofit fontScale="55000" lnSpcReduction="20000"/>
          </a:bodyPr>
          <a:lstStyle/>
          <a:p>
            <a:r>
              <a:rPr lang="en-US" sz="3800" dirty="0"/>
              <a:t>Where:</a:t>
            </a:r>
          </a:p>
          <a:p>
            <a:endParaRPr lang="en-US" sz="3800" dirty="0"/>
          </a:p>
          <a:p>
            <a:r>
              <a:rPr lang="en-US" sz="3800" b="1" dirty="0"/>
              <a:t>CREATE [OR REPLACE] TRIGGER </a:t>
            </a:r>
            <a:r>
              <a:rPr lang="en-US" sz="3800" b="1" dirty="0" err="1"/>
              <a:t>trigger_name</a:t>
            </a:r>
            <a:r>
              <a:rPr lang="en-US" sz="3800" b="1" dirty="0"/>
              <a:t> </a:t>
            </a:r>
            <a:r>
              <a:rPr lang="en-US" sz="3800" dirty="0"/>
              <a:t>− Creates or replaces an existing trigger with the </a:t>
            </a:r>
            <a:r>
              <a:rPr lang="en-US" sz="3800" i="1" dirty="0" err="1"/>
              <a:t>trigger_name</a:t>
            </a:r>
            <a:r>
              <a:rPr lang="en-US" sz="3800" dirty="0"/>
              <a:t>.</a:t>
            </a:r>
          </a:p>
          <a:p>
            <a:r>
              <a:rPr lang="en-US" sz="3800" b="1" dirty="0"/>
              <a:t>{BEFORE | AFTER | INSTEAD OF} </a:t>
            </a:r>
            <a:r>
              <a:rPr lang="en-US" sz="3800" dirty="0"/>
              <a:t>− This specifies when the trigger will be executed. The INSTEAD OF clause is used for creating trigger on a view.</a:t>
            </a:r>
          </a:p>
          <a:p>
            <a:r>
              <a:rPr lang="en-US" sz="3800" b="1" dirty="0"/>
              <a:t>{INSERT [OR] | UPDATE [OR] | DELETE} </a:t>
            </a:r>
            <a:r>
              <a:rPr lang="en-US" sz="3800" dirty="0"/>
              <a:t>− This specifies the DML operation.</a:t>
            </a:r>
          </a:p>
          <a:p>
            <a:r>
              <a:rPr lang="en-US" sz="3800" b="1" dirty="0"/>
              <a:t>[OF </a:t>
            </a:r>
            <a:r>
              <a:rPr lang="en-US" sz="3800" b="1" dirty="0" err="1"/>
              <a:t>col_name</a:t>
            </a:r>
            <a:r>
              <a:rPr lang="en-US" sz="3800" b="1" dirty="0"/>
              <a:t>] </a:t>
            </a:r>
            <a:r>
              <a:rPr lang="en-US" sz="3800" dirty="0"/>
              <a:t>− This specifies the column name that will be updated.</a:t>
            </a:r>
          </a:p>
          <a:p>
            <a:r>
              <a:rPr lang="en-US" sz="3800" b="1" dirty="0"/>
              <a:t>[ON </a:t>
            </a:r>
            <a:r>
              <a:rPr lang="en-US" sz="3800" b="1" dirty="0" err="1"/>
              <a:t>table_name</a:t>
            </a:r>
            <a:r>
              <a:rPr lang="en-US" sz="3800" b="1" dirty="0"/>
              <a:t>] </a:t>
            </a:r>
            <a:r>
              <a:rPr lang="en-US" sz="3800" dirty="0"/>
              <a:t>− This specifies the name of the table associated with the trigger.</a:t>
            </a:r>
          </a:p>
          <a:p>
            <a:r>
              <a:rPr lang="en-US" sz="3800" b="1" dirty="0"/>
              <a:t>[REFERENCING OLD AS o NEW AS n] </a:t>
            </a:r>
            <a:r>
              <a:rPr lang="en-US" sz="3800" dirty="0"/>
              <a:t>− This allows you to refer new and old values for various DML statements, such as INSERT, UPDATE, and DELETE.</a:t>
            </a:r>
          </a:p>
          <a:p>
            <a:r>
              <a:rPr lang="en-US" sz="3800" b="1" dirty="0"/>
              <a:t>[FOR EACH ROW] </a:t>
            </a:r>
            <a:r>
              <a:rPr lang="en-US" sz="3800" dirty="0"/>
              <a:t>− This specifies a row-level trigger, i.e., the trigger will be executed for each row being affected. Otherwise the trigger will execute just once when the SQL statement is executed, which is called a table level trigger.</a:t>
            </a:r>
          </a:p>
          <a:p>
            <a:r>
              <a:rPr lang="en-US" sz="3800" b="1" dirty="0"/>
              <a:t>WHEN (condition) </a:t>
            </a:r>
            <a:r>
              <a:rPr lang="en-US" sz="3800" dirty="0"/>
              <a:t>− This provides a condition for rows for which the trigger would fire. This clause is valid only for row-level triggers.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653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BBD5-872C-4BFC-89AA-06549935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E0329-BCEB-4F72-99F6-C8D6A030B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emp1</a:t>
            </a:r>
          </a:p>
          <a:p>
            <a:pPr marL="0" indent="0">
              <a:buNone/>
            </a:pPr>
            <a:r>
              <a:rPr lang="en-US" dirty="0"/>
              <a:t>	 (id integer primary key, </a:t>
            </a:r>
          </a:p>
          <a:p>
            <a:pPr marL="0" indent="0">
              <a:buNone/>
            </a:pPr>
            <a:r>
              <a:rPr lang="en-US" dirty="0"/>
              <a:t>	   salary integer);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843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3A2E-629E-4347-858B-0ABF63A5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Check_bal</a:t>
            </a:r>
            <a:r>
              <a:rPr lang="en-US" dirty="0"/>
              <a:t>()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932E1-EBC2-416B-A7CF-CCAD38CEC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 create function </a:t>
            </a:r>
            <a:r>
              <a:rPr lang="en-IN" dirty="0" err="1"/>
              <a:t>check_bal</a:t>
            </a:r>
            <a:r>
              <a:rPr lang="en-IN" dirty="0"/>
              <a:t>() returns trigger as $$</a:t>
            </a:r>
          </a:p>
          <a:p>
            <a:pPr marL="0" indent="0">
              <a:buNone/>
            </a:pPr>
            <a:r>
              <a:rPr lang="en-IN" dirty="0"/>
              <a:t>       BEGIN</a:t>
            </a:r>
          </a:p>
          <a:p>
            <a:pPr marL="0" indent="0">
              <a:buNone/>
            </a:pPr>
            <a:r>
              <a:rPr lang="en-IN" dirty="0"/>
              <a:t>	 if </a:t>
            </a:r>
            <a:r>
              <a:rPr lang="en-IN" dirty="0" err="1"/>
              <a:t>NEW.salary</a:t>
            </a:r>
            <a:r>
              <a:rPr lang="en-IN" dirty="0"/>
              <a:t> &lt;1000 then</a:t>
            </a:r>
          </a:p>
          <a:p>
            <a:pPr marL="0" indent="0">
              <a:buNone/>
            </a:pPr>
            <a:r>
              <a:rPr lang="en-IN" dirty="0"/>
              <a:t>	       raise exception 'Min </a:t>
            </a:r>
            <a:r>
              <a:rPr lang="en-IN" dirty="0" err="1"/>
              <a:t>bal</a:t>
            </a:r>
            <a:r>
              <a:rPr lang="en-IN" dirty="0"/>
              <a:t> should be 1000’;</a:t>
            </a:r>
          </a:p>
          <a:p>
            <a:pPr marL="0" indent="0">
              <a:buNone/>
            </a:pPr>
            <a:r>
              <a:rPr lang="en-IN" dirty="0"/>
              <a:t>	 end if;</a:t>
            </a:r>
          </a:p>
          <a:p>
            <a:pPr marL="0" indent="0">
              <a:buNone/>
            </a:pPr>
            <a:r>
              <a:rPr lang="en-IN" dirty="0"/>
              <a:t>	return NEW;</a:t>
            </a:r>
          </a:p>
          <a:p>
            <a:pPr marL="0" indent="0">
              <a:buNone/>
            </a:pPr>
            <a:r>
              <a:rPr lang="en-IN" dirty="0"/>
              <a:t>        END;</a:t>
            </a:r>
          </a:p>
          <a:p>
            <a:pPr marL="0" indent="0">
              <a:buNone/>
            </a:pPr>
            <a:r>
              <a:rPr lang="en-IN" dirty="0"/>
              <a:t>	$$</a:t>
            </a:r>
          </a:p>
          <a:p>
            <a:pPr marL="0" indent="0">
              <a:buNone/>
            </a:pPr>
            <a:r>
              <a:rPr lang="en-IN" dirty="0"/>
              <a:t>        LANGUAGE </a:t>
            </a:r>
            <a:r>
              <a:rPr lang="en-IN" dirty="0" err="1"/>
              <a:t>plpgsql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37549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B261-6156-40A3-98A1-E056B860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9427F-B7A2-42AA-9D3D-C50610856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trigger </a:t>
            </a:r>
            <a:r>
              <a:rPr lang="en-US" dirty="0" err="1"/>
              <a:t>bal_check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BEFORE INSERT OR UPDATE</a:t>
            </a:r>
          </a:p>
          <a:p>
            <a:pPr marL="0" indent="0">
              <a:buNone/>
            </a:pPr>
            <a:r>
              <a:rPr lang="en-US" dirty="0"/>
              <a:t> ON emp1</a:t>
            </a:r>
          </a:p>
          <a:p>
            <a:pPr marL="0" indent="0">
              <a:buNone/>
            </a:pPr>
            <a:r>
              <a:rPr lang="en-US" dirty="0"/>
              <a:t> FOR EACH ROW</a:t>
            </a:r>
          </a:p>
          <a:p>
            <a:pPr marL="0" indent="0">
              <a:buNone/>
            </a:pPr>
            <a:r>
              <a:rPr lang="en-US" dirty="0"/>
              <a:t> EXECUTE PROCEDURE </a:t>
            </a:r>
            <a:r>
              <a:rPr lang="en-US" dirty="0" err="1"/>
              <a:t>check_bal</a:t>
            </a:r>
            <a:r>
              <a:rPr lang="en-US" dirty="0"/>
              <a:t>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375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753D6-60DA-49E3-B9E1-19B716B8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3C714-AFA0-48D6-BD44-769F6DB9B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into emp1 values(101,500);</a:t>
            </a:r>
          </a:p>
          <a:p>
            <a:r>
              <a:rPr lang="en-US" dirty="0"/>
              <a:t>insert into emp1 values(101,5000);</a:t>
            </a:r>
          </a:p>
          <a:p>
            <a:r>
              <a:rPr lang="en-US" dirty="0"/>
              <a:t>insert into emp1 values(102,2000);</a:t>
            </a:r>
          </a:p>
          <a:p>
            <a:endParaRPr lang="en-US" dirty="0"/>
          </a:p>
          <a:p>
            <a:r>
              <a:rPr lang="en-US" dirty="0"/>
              <a:t>update emp1 set salary=700 where id=101;</a:t>
            </a:r>
          </a:p>
          <a:p>
            <a:r>
              <a:rPr lang="en-US" dirty="0"/>
              <a:t>update emp1 set salary=7000 where id=101;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531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241D-27FA-4AE3-A649-3943CED4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Emp_Audit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4EC03-FFBE-4A94-A785-53A5DD0B3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create table </a:t>
            </a:r>
            <a:r>
              <a:rPr lang="en-IN" dirty="0" err="1"/>
              <a:t>emp_audit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	operation character(1) not null, </a:t>
            </a:r>
          </a:p>
          <a:p>
            <a:pPr marL="0" indent="0">
              <a:buNone/>
            </a:pPr>
            <a:r>
              <a:rPr lang="en-IN" dirty="0"/>
              <a:t>	stamp  timestamp not null, </a:t>
            </a:r>
          </a:p>
          <a:p>
            <a:pPr marL="0" indent="0">
              <a:buNone/>
            </a:pPr>
            <a:r>
              <a:rPr lang="en-IN" dirty="0"/>
              <a:t> 	</a:t>
            </a:r>
            <a:r>
              <a:rPr lang="en-IN" dirty="0" err="1"/>
              <a:t>userid</a:t>
            </a:r>
            <a:r>
              <a:rPr lang="en-IN" dirty="0"/>
              <a:t>  text  not null,</a:t>
            </a:r>
          </a:p>
          <a:p>
            <a:pPr marL="0" indent="0">
              <a:buNone/>
            </a:pPr>
            <a:r>
              <a:rPr lang="en-IN" dirty="0"/>
              <a:t> 	</a:t>
            </a:r>
            <a:r>
              <a:rPr lang="en-IN" dirty="0" err="1"/>
              <a:t>empname</a:t>
            </a:r>
            <a:r>
              <a:rPr lang="en-IN" dirty="0"/>
              <a:t>   text   not null,</a:t>
            </a:r>
          </a:p>
          <a:p>
            <a:pPr marL="0" indent="0">
              <a:buNone/>
            </a:pPr>
            <a:r>
              <a:rPr lang="en-IN" dirty="0"/>
              <a:t>	 </a:t>
            </a:r>
            <a:r>
              <a:rPr lang="en-IN" dirty="0" err="1"/>
              <a:t>sal</a:t>
            </a:r>
            <a:r>
              <a:rPr lang="en-IN" dirty="0"/>
              <a:t>   integer  );        </a:t>
            </a:r>
          </a:p>
        </p:txBody>
      </p:sp>
    </p:spTree>
    <p:extLst>
      <p:ext uri="{BB962C8B-B14F-4D97-AF65-F5344CB8AC3E}">
        <p14:creationId xmlns:p14="http://schemas.microsoft.com/office/powerpoint/2010/main" val="1729050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9BB5-F119-4F3C-8E05-970066CA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do_emp_audit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84BAF-7154-4670-80CC-285832A6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/>
              <a:t>CREATE OR REPLACE FUNCTION </a:t>
            </a:r>
            <a:r>
              <a:rPr lang="en-US" dirty="0" err="1"/>
              <a:t>do_emp_audit</a:t>
            </a:r>
            <a:r>
              <a:rPr lang="en-US" dirty="0"/>
              <a:t>() RETURNS TRIGGER AS $</a:t>
            </a:r>
            <a:r>
              <a:rPr lang="en-US" dirty="0" err="1"/>
              <a:t>emp_audit</a:t>
            </a:r>
            <a:r>
              <a:rPr lang="en-US" dirty="0"/>
              <a:t>$</a:t>
            </a:r>
          </a:p>
          <a:p>
            <a:pPr marL="0" indent="0">
              <a:buNone/>
            </a:pPr>
            <a:r>
              <a:rPr lang="en-IN" dirty="0"/>
              <a:t>    BEGIN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IF (TG_OP = 'DELETE') THEN</a:t>
            </a:r>
          </a:p>
          <a:p>
            <a:pPr marL="0" indent="0">
              <a:buNone/>
            </a:pPr>
            <a:r>
              <a:rPr lang="en-US" dirty="0"/>
              <a:t>       INSERT INTO </a:t>
            </a:r>
            <a:r>
              <a:rPr lang="en-US" dirty="0" err="1"/>
              <a:t>emp_audit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SELECT 'D’ , now(), user , OLD.*;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IN" dirty="0"/>
              <a:t> RETURN OLD;</a:t>
            </a:r>
          </a:p>
        </p:txBody>
      </p:sp>
    </p:spTree>
    <p:extLst>
      <p:ext uri="{BB962C8B-B14F-4D97-AF65-F5344CB8AC3E}">
        <p14:creationId xmlns:p14="http://schemas.microsoft.com/office/powerpoint/2010/main" val="1631971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9BB5-F119-4F3C-8E05-970066CA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do_emp_audit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84BAF-7154-4670-80CC-285832A6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ELSIF (TG_OP = 'UPDATE') THEN</a:t>
            </a:r>
          </a:p>
          <a:p>
            <a:pPr marL="0" indent="0">
              <a:buNone/>
            </a:pPr>
            <a:r>
              <a:rPr lang="en-US" dirty="0"/>
              <a:t>  INSERT INTO </a:t>
            </a:r>
            <a:r>
              <a:rPr lang="en-US" dirty="0" err="1"/>
              <a:t>emp_audit</a:t>
            </a:r>
            <a:r>
              <a:rPr lang="en-US" dirty="0"/>
              <a:t> SELECT 'U’, now(), user, NEW.*;</a:t>
            </a:r>
          </a:p>
          <a:p>
            <a:pPr marL="0" indent="0">
              <a:buNone/>
            </a:pPr>
            <a:r>
              <a:rPr lang="en-US" dirty="0"/>
              <a:t>    RETURN NEW;</a:t>
            </a:r>
          </a:p>
          <a:p>
            <a:pPr marL="0" indent="0">
              <a:buNone/>
            </a:pPr>
            <a:r>
              <a:rPr lang="en-IN" dirty="0"/>
              <a:t>ELSIF (TG_OP = 'INSERT') THEN</a:t>
            </a:r>
          </a:p>
          <a:p>
            <a:pPr marL="0" indent="0">
              <a:buNone/>
            </a:pPr>
            <a:r>
              <a:rPr lang="en-US" dirty="0"/>
              <a:t>  INSERT INTO </a:t>
            </a:r>
            <a:r>
              <a:rPr lang="en-US" dirty="0" err="1"/>
              <a:t>emp_audit</a:t>
            </a:r>
            <a:r>
              <a:rPr lang="en-US" dirty="0"/>
              <a:t> SELECT 'I’, now(), user, NEW.*;</a:t>
            </a:r>
          </a:p>
          <a:p>
            <a:pPr marL="0" indent="0">
              <a:buNone/>
            </a:pPr>
            <a:r>
              <a:rPr lang="en-US" dirty="0"/>
              <a:t>    RETURN NEW;</a:t>
            </a:r>
          </a:p>
          <a:p>
            <a:pPr marL="0" indent="0">
              <a:buNone/>
            </a:pPr>
            <a:r>
              <a:rPr lang="en-US" dirty="0"/>
              <a:t> END IF;</a:t>
            </a:r>
          </a:p>
          <a:p>
            <a:pPr marL="0" indent="0">
              <a:buNone/>
            </a:pPr>
            <a:r>
              <a:rPr lang="en-US" dirty="0"/>
              <a:t> RETURN NULL;</a:t>
            </a:r>
          </a:p>
          <a:p>
            <a:pPr marL="0" indent="0">
              <a:buNone/>
            </a:pP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emp_audit</a:t>
            </a:r>
            <a:r>
              <a:rPr lang="en-US" dirty="0"/>
              <a:t>$ LANGUAGE PLPGSQL;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419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9C2B-78C5-4C5B-9650-F8E142DB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801EC-3D6E-448D-BAF4-276238E9F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CREATE TRIGGER </a:t>
            </a:r>
            <a:r>
              <a:rPr lang="en-IN" dirty="0" err="1"/>
              <a:t>emp_audit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AFTER INSERT OR UPDATE OR DELETE ON emp</a:t>
            </a:r>
            <a:r>
              <a:rPr lang="en-IN" dirty="0"/>
              <a:t>1</a:t>
            </a:r>
          </a:p>
          <a:p>
            <a:pPr marL="0" indent="0">
              <a:buNone/>
            </a:pPr>
            <a:r>
              <a:rPr lang="en-US" dirty="0"/>
              <a:t>FOR EACH ROW EXECUTE PROCEDURE </a:t>
            </a:r>
            <a:r>
              <a:rPr lang="en-US" dirty="0" err="1"/>
              <a:t>do_emp_audit</a:t>
            </a:r>
            <a:r>
              <a:rPr lang="en-US" dirty="0"/>
              <a:t>();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Now execute:-</a:t>
            </a:r>
          </a:p>
          <a:p>
            <a:pPr marL="0" indent="0">
              <a:buNone/>
            </a:pPr>
            <a:r>
              <a:rPr lang="en-IN" dirty="0"/>
              <a:t>Insert into emp1 values(103,5000);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093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F381-2F30-4F56-9990-75D1B8A1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FE5B3-5237-4A5E-9154-58FEB4726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TRIGGER [ IF EXISTS ] name ON </a:t>
            </a:r>
            <a:r>
              <a:rPr lang="en-US" dirty="0" err="1"/>
              <a:t>table_name</a:t>
            </a:r>
            <a:r>
              <a:rPr lang="en-US" dirty="0"/>
              <a:t> [ CASCADE | RESTRICT ]</a:t>
            </a:r>
          </a:p>
          <a:p>
            <a:pPr lvl="1"/>
            <a:r>
              <a:rPr lang="en-US" dirty="0"/>
              <a:t>Ex:- DROP TRIGGER [ IF EXISTS ] </a:t>
            </a:r>
            <a:r>
              <a:rPr lang="en-IN" dirty="0" err="1"/>
              <a:t>emp_audit</a:t>
            </a:r>
            <a:r>
              <a:rPr lang="en-IN" dirty="0"/>
              <a:t> </a:t>
            </a:r>
            <a:r>
              <a:rPr lang="en-US" dirty="0"/>
              <a:t>ON emp1[ CASCADE | RESTRICT ]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ALTER TABLE emp1  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DISABLE TRIGGER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emp_audit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/ All; 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ALTER TABLE emp1  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ENABLE TRIGGER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emp_audit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/ All; 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571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11514</TotalTime>
  <Words>1180</Words>
  <Application>Microsoft Office PowerPoint</Application>
  <PresentationFormat>On-screen Show (4:3)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inter-regular</vt:lpstr>
      <vt:lpstr>Office Theme</vt:lpstr>
      <vt:lpstr>Introduction to Triggers</vt:lpstr>
      <vt:lpstr>Introduction to Triggers </vt:lpstr>
      <vt:lpstr>Triggers vs. Procedures</vt:lpstr>
      <vt:lpstr>How Triggers Are Used</vt:lpstr>
      <vt:lpstr>Some Cautionary Notes about Triggers </vt:lpstr>
      <vt:lpstr>PowerPoint Presentation</vt:lpstr>
      <vt:lpstr>Parts of a Trigger </vt:lpstr>
      <vt:lpstr>PowerPoint Presentation</vt:lpstr>
      <vt:lpstr>Triggers on DML Statements</vt:lpstr>
      <vt:lpstr>Trigger Execution</vt:lpstr>
      <vt:lpstr>Syntax</vt:lpstr>
      <vt:lpstr>PowerPoint Presentation</vt:lpstr>
      <vt:lpstr>Employee table</vt:lpstr>
      <vt:lpstr>Check_bal() function</vt:lpstr>
      <vt:lpstr>Trigger</vt:lpstr>
      <vt:lpstr>Execute</vt:lpstr>
      <vt:lpstr>Emp_Audit</vt:lpstr>
      <vt:lpstr>do_emp_audit()</vt:lpstr>
      <vt:lpstr>do_emp_audit()</vt:lpstr>
      <vt:lpstr>Trigger</vt:lpstr>
      <vt:lpstr>Triggers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Rehab</dc:creator>
  <cp:lastModifiedBy>Nishit Vyas</cp:lastModifiedBy>
  <cp:revision>24</cp:revision>
  <dcterms:created xsi:type="dcterms:W3CDTF">2017-08-07T12:03:10Z</dcterms:created>
  <dcterms:modified xsi:type="dcterms:W3CDTF">2021-09-29T09:55:19Z</dcterms:modified>
</cp:coreProperties>
</file>